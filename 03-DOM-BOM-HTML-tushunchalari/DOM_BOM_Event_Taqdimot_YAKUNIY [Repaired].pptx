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92" d="100"/>
          <a:sy n="92" d="100"/>
        </p:scale>
        <p:origin x="307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518564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chemeClr val="accent4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AE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AL-XORAZMIY VORISLARI  ·  MENTORLIK DASTURI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85800" y="1737360"/>
            <a:ext cx="10698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US" sz="4500" dirty="0">
                <a:solidFill>
                  <a:schemeClr val="bg1"/>
                </a:solidFill>
              </a:rPr>
              <a:t>DOM </a:t>
            </a:r>
            <a:r>
              <a:rPr lang="en-US" sz="4500" dirty="0" err="1">
                <a:solidFill>
                  <a:schemeClr val="bg1"/>
                </a:solidFill>
              </a:rPr>
              <a:t>va</a:t>
            </a:r>
            <a:r>
              <a:rPr lang="en-US" sz="4500" dirty="0">
                <a:solidFill>
                  <a:schemeClr val="bg1"/>
                </a:solidFill>
              </a:rPr>
              <a:t> BOM </a:t>
            </a:r>
            <a:r>
              <a:rPr lang="en-US" sz="4500" dirty="0" err="1">
                <a:solidFill>
                  <a:schemeClr val="bg1"/>
                </a:solidFill>
              </a:rPr>
              <a:t>tushunchalari</a:t>
            </a:r>
            <a:r>
              <a:rPr lang="en-US" sz="4500" dirty="0">
                <a:solidFill>
                  <a:schemeClr val="bg1"/>
                </a:solidFill>
              </a:rPr>
              <a:t>. HTML </a:t>
            </a:r>
            <a:r>
              <a:rPr lang="en-US" sz="4500" dirty="0" err="1">
                <a:solidFill>
                  <a:schemeClr val="bg1"/>
                </a:solidFill>
              </a:rPr>
              <a:t>elementlarini</a:t>
            </a:r>
            <a:r>
              <a:rPr lang="en-US" sz="4500" dirty="0">
                <a:solidFill>
                  <a:schemeClr val="bg1"/>
                </a:solidFill>
              </a:rPr>
              <a:t> JavaScript </a:t>
            </a:r>
            <a:r>
              <a:rPr lang="en-US" sz="4500" dirty="0" err="1">
                <a:solidFill>
                  <a:schemeClr val="bg1"/>
                </a:solidFill>
              </a:rPr>
              <a:t>orqali</a:t>
            </a:r>
            <a:r>
              <a:rPr lang="en-US" sz="4500" dirty="0">
                <a:solidFill>
                  <a:schemeClr val="bg1"/>
                </a:solidFill>
              </a:rPr>
              <a:t> </a:t>
            </a:r>
            <a:br>
              <a:rPr lang="en-US" sz="4500" dirty="0">
                <a:solidFill>
                  <a:schemeClr val="bg1"/>
                </a:solidFill>
              </a:rPr>
            </a:br>
            <a:r>
              <a:rPr lang="en-US" sz="4500" dirty="0" err="1">
                <a:solidFill>
                  <a:schemeClr val="bg1"/>
                </a:solidFill>
              </a:rPr>
              <a:t>boshqarish</a:t>
            </a:r>
            <a:r>
              <a:rPr lang="en-US" sz="4500" dirty="0">
                <a:solidFill>
                  <a:schemeClr val="bg1"/>
                </a:solidFill>
              </a:rPr>
              <a:t>. </a:t>
            </a:r>
            <a:r>
              <a:rPr lang="en-US" sz="4500" dirty="0" err="1">
                <a:solidFill>
                  <a:schemeClr val="bg1"/>
                </a:solidFill>
              </a:rPr>
              <a:t>Hodisalar</a:t>
            </a:r>
            <a:r>
              <a:rPr lang="en-US" sz="4500" dirty="0">
                <a:solidFill>
                  <a:schemeClr val="bg1"/>
                </a:solidFill>
              </a:rPr>
              <a:t> (Events) </a:t>
            </a:r>
            <a:r>
              <a:rPr lang="en-US" sz="4500" dirty="0" err="1">
                <a:solidFill>
                  <a:schemeClr val="bg1"/>
                </a:solidFill>
              </a:rPr>
              <a:t>bilan</a:t>
            </a:r>
            <a:r>
              <a:rPr lang="en-US" sz="4500" dirty="0">
                <a:solidFill>
                  <a:schemeClr val="bg1"/>
                </a:solidFill>
              </a:rPr>
              <a:t> </a:t>
            </a:r>
            <a:r>
              <a:rPr lang="en-US" sz="4500" dirty="0" err="1">
                <a:solidFill>
                  <a:schemeClr val="bg1"/>
                </a:solidFill>
              </a:rPr>
              <a:t>ishlash</a:t>
            </a:r>
            <a:r>
              <a:rPr lang="en-US" sz="4500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5" name="Shape 3"/>
          <p:cNvSpPr/>
          <p:nvPr/>
        </p:nvSpPr>
        <p:spPr>
          <a:xfrm>
            <a:off x="731520" y="4892040"/>
            <a:ext cx="1280160" cy="41148"/>
          </a:xfrm>
          <a:prstGeom prst="rect">
            <a:avLst/>
          </a:prstGeom>
          <a:solidFill>
            <a:srgbClr val="453FE0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Dilrabo Xidirova  ·  AI/ML mentor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Bugungi reja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52120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34440"/>
            <a:ext cx="73152" cy="868680"/>
          </a:xfrm>
          <a:prstGeom prst="rect">
            <a:avLst/>
          </a:prstGeom>
          <a:solidFill>
            <a:srgbClr val="453FE0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23444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Taxmin qiling! (warm-up)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309360" y="1234440"/>
            <a:ext cx="52120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309360" y="1234440"/>
            <a:ext cx="73152" cy="868680"/>
          </a:xfrm>
          <a:prstGeom prst="rect">
            <a:avLst/>
          </a:prstGeom>
          <a:solidFill>
            <a:srgbClr val="453FE0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0" y="123444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Hikoya: Pult va Qo'ng'iroq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267712"/>
            <a:ext cx="52120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2267712"/>
            <a:ext cx="73152" cy="868680"/>
          </a:xfrm>
          <a:prstGeom prst="rect">
            <a:avLst/>
          </a:prstGeom>
          <a:solidFill>
            <a:srgbClr val="453FE0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2267712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DOM nima?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9360" y="2267712"/>
            <a:ext cx="52120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09360" y="2267712"/>
            <a:ext cx="73152" cy="868680"/>
          </a:xfrm>
          <a:prstGeom prst="rect">
            <a:avLst/>
          </a:prstGeom>
          <a:solidFill>
            <a:srgbClr val="453FE0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0" y="2267712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BOM nima?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3300984"/>
            <a:ext cx="52120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31520" y="3300984"/>
            <a:ext cx="73152" cy="868680"/>
          </a:xfrm>
          <a:prstGeom prst="rect">
            <a:avLst/>
          </a:prstGeom>
          <a:solidFill>
            <a:srgbClr val="453FE0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300984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Elementni boshqarish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309360" y="3300984"/>
            <a:ext cx="52120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309360" y="3300984"/>
            <a:ext cx="73152" cy="868680"/>
          </a:xfrm>
          <a:prstGeom prst="rect">
            <a:avLst/>
          </a:prstGeom>
          <a:solidFill>
            <a:srgbClr val="453FE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0" y="3300984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Event'lar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31520" y="4334256"/>
            <a:ext cx="52120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31520" y="4334256"/>
            <a:ext cx="73152" cy="868680"/>
          </a:xfrm>
          <a:prstGeom prst="rect">
            <a:avLst/>
          </a:prstGeom>
          <a:solidFill>
            <a:srgbClr val="453FE0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" y="4334256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Konsolidatsiya loyihasi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309360" y="4334256"/>
            <a:ext cx="52120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309360" y="4334256"/>
            <a:ext cx="73152" cy="868680"/>
          </a:xfrm>
          <a:prstGeom prst="rect">
            <a:avLst/>
          </a:prstGeom>
          <a:solidFill>
            <a:srgbClr val="453FE0"/>
          </a:solidFill>
          <a:ln/>
        </p:spPr>
      </p:sp>
      <p:sp>
        <p:nvSpPr>
          <p:cNvPr id="26" name="Text 24"/>
          <p:cNvSpPr/>
          <p:nvPr/>
        </p:nvSpPr>
        <p:spPr>
          <a:xfrm>
            <a:off x="6583680" y="4334256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Yakunlovchi o'yin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685800" cy="685800"/>
          </a:xfrm>
          <a:prstGeom prst="ellipse">
            <a:avLst/>
          </a:prstGeom>
          <a:solidFill>
            <a:srgbClr val="453FE0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731520"/>
            <a:ext cx="320040" cy="320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08760" y="548640"/>
            <a:ext cx="9601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Warm-up — Taxmin qiling!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640080" y="1645920"/>
            <a:ext cx="10881360" cy="39319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1005840" y="1920240"/>
            <a:ext cx="10149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Hech qanday atama ishlatilmaydi — faqat qiziqish!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1005840" y="2651760"/>
            <a:ext cx="365760" cy="365760"/>
          </a:xfrm>
          <a:prstGeom prst="ellipse">
            <a:avLst/>
          </a:prstGeom>
          <a:solidFill>
            <a:srgbClr val="ECEBFC"/>
          </a:solidFill>
          <a:ln/>
        </p:spPr>
      </p:sp>
      <p:sp>
        <p:nvSpPr>
          <p:cNvPr id="8" name="Text 5"/>
          <p:cNvSpPr/>
          <p:nvPr/>
        </p:nvSpPr>
        <p:spPr>
          <a:xfrm>
            <a:off x="1005840" y="2651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53F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508760" y="2624328"/>
            <a:ext cx="9784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ta sirli tugma/quti bilan tanishasiz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1005840" y="3291840"/>
            <a:ext cx="365760" cy="365760"/>
          </a:xfrm>
          <a:prstGeom prst="ellipse">
            <a:avLst/>
          </a:prstGeom>
          <a:solidFill>
            <a:srgbClr val="ECEBFC"/>
          </a:solidFill>
          <a:ln/>
        </p:spPr>
      </p:sp>
      <p:sp>
        <p:nvSpPr>
          <p:cNvPr id="11" name="Text 8"/>
          <p:cNvSpPr/>
          <p:nvPr/>
        </p:nvSpPr>
        <p:spPr>
          <a:xfrm>
            <a:off x="100584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53F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508760" y="3264408"/>
            <a:ext cx="9784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 birida avval NATIJANI taxmin qilasiz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1005840" y="3931920"/>
            <a:ext cx="365760" cy="365760"/>
          </a:xfrm>
          <a:prstGeom prst="ellipse">
            <a:avLst/>
          </a:prstGeom>
          <a:solidFill>
            <a:srgbClr val="ECEBFC"/>
          </a:solidFill>
          <a:ln/>
        </p:spPr>
      </p:sp>
      <p:sp>
        <p:nvSpPr>
          <p:cNvPr id="14" name="Text 11"/>
          <p:cNvSpPr/>
          <p:nvPr/>
        </p:nvSpPr>
        <p:spPr>
          <a:xfrm>
            <a:off x="1005840" y="3931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53F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508760" y="3904488"/>
            <a:ext cx="9784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Keyin tugmani bosib, to'g'ri yoki noto'g'ri ekanini tekshirasiz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1005840" y="4572000"/>
            <a:ext cx="365760" cy="365760"/>
          </a:xfrm>
          <a:prstGeom prst="ellipse">
            <a:avLst/>
          </a:prstGeom>
          <a:solidFill>
            <a:srgbClr val="ECEBFC"/>
          </a:solidFill>
          <a:ln/>
        </p:spPr>
      </p:sp>
      <p:sp>
        <p:nvSpPr>
          <p:cNvPr id="17" name="Text 14"/>
          <p:cNvSpPr/>
          <p:nvPr/>
        </p:nvSpPr>
        <p:spPr>
          <a:xfrm>
            <a:off x="1005840" y="4572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53F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508760" y="4544568"/>
            <a:ext cx="9784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Yakunida ball chiqadi va darsga ko'prik jumlasi eshitiladi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457200" y="6400800"/>
            <a:ext cx="5120640" cy="384048"/>
          </a:xfrm>
          <a:prstGeom prst="roundRect">
            <a:avLst>
              <a:gd name="adj" fmla="val 119048"/>
            </a:avLst>
          </a:prstGeom>
          <a:solidFill>
            <a:srgbClr val="ECEBFC"/>
          </a:solidFill>
          <a:ln/>
        </p:spPr>
      </p:sp>
      <p:sp>
        <p:nvSpPr>
          <p:cNvPr id="20" name="Text 17"/>
          <p:cNvSpPr/>
          <p:nvPr/>
        </p:nvSpPr>
        <p:spPr>
          <a:xfrm>
            <a:off x="457200" y="640080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53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VOSITA: Taxmin_Qiling.html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685800" cy="685800"/>
          </a:xfrm>
          <a:prstGeom prst="ellipse">
            <a:avLst/>
          </a:prstGeom>
          <a:solidFill>
            <a:srgbClr val="BA7517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731520"/>
            <a:ext cx="320040" cy="320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08760" y="548640"/>
            <a:ext cx="9601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Hikoya orqali kirish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640080" y="1828800"/>
            <a:ext cx="512064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40080" y="1828800"/>
            <a:ext cx="5120640" cy="777240"/>
          </a:xfrm>
          <a:prstGeom prst="roundRect">
            <a:avLst>
              <a:gd name="adj" fmla="val 9412"/>
            </a:avLst>
          </a:prstGeom>
          <a:solidFill>
            <a:srgbClr val="ECEBFC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82880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453F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Pult va Televizor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960120" y="2834640"/>
            <a:ext cx="4480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Pult tugmasini bossangiz, televizor ekrani o'zgaradi — televizorning o'ziga qo'l tekkizmasdan.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17920" y="1828800"/>
            <a:ext cx="512064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217920" y="1828800"/>
            <a:ext cx="5120640" cy="777240"/>
          </a:xfrm>
          <a:prstGeom prst="roundRect">
            <a:avLst>
              <a:gd name="adj" fmla="val 9412"/>
            </a:avLst>
          </a:prstGeom>
          <a:solidFill>
            <a:srgbClr val="FAEEDA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0" y="182880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BA75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Eshik qo'ng'irog'i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6537960" y="2834640"/>
            <a:ext cx="4480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Qo'ng'iroq bosilganda, eshik ochiladi — biz doim kutib turmaymiz, faqat chaqirilganda javob beramiz.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6400800"/>
            <a:ext cx="5120640" cy="384048"/>
          </a:xfrm>
          <a:prstGeom prst="roundRect">
            <a:avLst>
              <a:gd name="adj" fmla="val 119048"/>
            </a:avLst>
          </a:prstGeom>
          <a:solidFill>
            <a:srgbClr val="ECEBFC"/>
          </a:solidFill>
          <a:ln/>
        </p:spPr>
      </p:sp>
      <p:sp>
        <p:nvSpPr>
          <p:cNvPr id="14" name="Text 11"/>
          <p:cNvSpPr/>
          <p:nvPr/>
        </p:nvSpPr>
        <p:spPr>
          <a:xfrm>
            <a:off x="457200" y="640080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53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VOSITA: Hikoya_Tushuntirish.html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 — sahifaning daraxti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206240" y="1737360"/>
            <a:ext cx="1920240" cy="594360"/>
          </a:xfrm>
          <a:prstGeom prst="roundRect">
            <a:avLst>
              <a:gd name="adj" fmla="val 12308"/>
            </a:avLst>
          </a:prstGeom>
          <a:solidFill>
            <a:srgbClr val="5B8DEF"/>
          </a:solidFill>
          <a:ln/>
        </p:spPr>
      </p:sp>
      <p:sp>
        <p:nvSpPr>
          <p:cNvPr id="4" name="Text 2"/>
          <p:cNvSpPr/>
          <p:nvPr/>
        </p:nvSpPr>
        <p:spPr>
          <a:xfrm>
            <a:off x="4206240" y="173736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&lt;html&gt;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206240" y="2560320"/>
            <a:ext cx="1920240" cy="594360"/>
          </a:xfrm>
          <a:prstGeom prst="roundRect">
            <a:avLst>
              <a:gd name="adj" fmla="val 12308"/>
            </a:avLst>
          </a:prstGeom>
          <a:solidFill>
            <a:srgbClr val="1D9E75"/>
          </a:solidFill>
          <a:ln/>
        </p:spPr>
      </p:sp>
      <p:sp>
        <p:nvSpPr>
          <p:cNvPr id="6" name="Text 4"/>
          <p:cNvSpPr/>
          <p:nvPr/>
        </p:nvSpPr>
        <p:spPr>
          <a:xfrm>
            <a:off x="4206240" y="2560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&lt;body&gt;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651760" y="3383280"/>
            <a:ext cx="1645920" cy="594360"/>
          </a:xfrm>
          <a:prstGeom prst="roundRect">
            <a:avLst>
              <a:gd name="adj" fmla="val 12308"/>
            </a:avLst>
          </a:prstGeom>
          <a:solidFill>
            <a:srgbClr val="BA7517"/>
          </a:solidFill>
          <a:ln/>
        </p:spPr>
      </p:sp>
      <p:sp>
        <p:nvSpPr>
          <p:cNvPr id="8" name="Text 6"/>
          <p:cNvSpPr/>
          <p:nvPr/>
        </p:nvSpPr>
        <p:spPr>
          <a:xfrm>
            <a:off x="2651760" y="338328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&lt;h1&gt;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846320" y="3383280"/>
            <a:ext cx="1645920" cy="594360"/>
          </a:xfrm>
          <a:prstGeom prst="roundRect">
            <a:avLst>
              <a:gd name="adj" fmla="val 12308"/>
            </a:avLst>
          </a:prstGeom>
          <a:solidFill>
            <a:srgbClr val="D6336C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338328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&lt;button&gt;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040880" y="3383280"/>
            <a:ext cx="1645920" cy="594360"/>
          </a:xfrm>
          <a:prstGeom prst="roundRect">
            <a:avLst>
              <a:gd name="adj" fmla="val 12308"/>
            </a:avLst>
          </a:prstGeom>
          <a:solidFill>
            <a:srgbClr val="9D7BEA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0" y="338328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&lt;p&gt;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166360" y="2331720"/>
            <a:ext cx="0" cy="228600"/>
          </a:xfrm>
          <a:prstGeom prst="line">
            <a:avLst/>
          </a:prstGeom>
          <a:noFill/>
          <a:ln w="19050">
            <a:solidFill>
              <a:srgbClr val="6B748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166360" y="3154680"/>
            <a:ext cx="0" cy="228600"/>
          </a:xfrm>
          <a:prstGeom prst="line">
            <a:avLst/>
          </a:prstGeom>
          <a:noFill/>
          <a:ln w="19050">
            <a:solidFill>
              <a:srgbClr val="6B748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66360" y="3154680"/>
            <a:ext cx="502920" cy="228600"/>
          </a:xfrm>
          <a:prstGeom prst="line">
            <a:avLst/>
          </a:prstGeom>
          <a:noFill/>
          <a:ln w="19050">
            <a:solidFill>
              <a:srgbClr val="6B748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66360" y="3154680"/>
            <a:ext cx="2697480" cy="228600"/>
          </a:xfrm>
          <a:prstGeom prst="line">
            <a:avLst/>
          </a:prstGeom>
          <a:noFill/>
          <a:ln w="19050">
            <a:solidFill>
              <a:srgbClr val="6B7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3434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C7C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 = sahifadagi barcha elementlarning "xaritasi"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7200" y="6400800"/>
            <a:ext cx="5120640" cy="384048"/>
          </a:xfrm>
          <a:prstGeom prst="roundRect">
            <a:avLst>
              <a:gd name="adj" fmla="val 119048"/>
            </a:avLst>
          </a:prstGeom>
          <a:solidFill>
            <a:srgbClr val="ECEBFC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640080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53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VOSITA: DOM_Sxema.excalidraw + Chrome DevTools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BOM — brauzerning o'zi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 — sahifa ICHI. BOM — brauzerning O'ZI.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12064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828800"/>
            <a:ext cx="5120640" cy="822960"/>
          </a:xfrm>
          <a:prstGeom prst="roundRect">
            <a:avLst>
              <a:gd name="adj" fmla="val 8889"/>
            </a:avLst>
          </a:prstGeom>
          <a:solidFill>
            <a:srgbClr val="453FE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8288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Sahifadagi elementlar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365760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&lt;h1&gt;, &lt;button&gt;, &lt;p&gt;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217920" y="1828800"/>
            <a:ext cx="512064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17920" y="1828800"/>
            <a:ext cx="5120640" cy="822960"/>
          </a:xfrm>
          <a:prstGeom prst="roundRect">
            <a:avLst>
              <a:gd name="adj" fmla="val 8889"/>
            </a:avLst>
          </a:prstGeom>
          <a:solidFill>
            <a:srgbClr val="1D9E7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BOM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583680" y="292608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Brauzerning o'zi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83680" y="365760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oyna o'lchami, alert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6400800"/>
            <a:ext cx="5120640" cy="384048"/>
          </a:xfrm>
          <a:prstGeom prst="roundRect">
            <a:avLst>
              <a:gd name="adj" fmla="val 119048"/>
            </a:avLst>
          </a:prstGeom>
          <a:solidFill>
            <a:srgbClr val="ECEBF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640080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53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VOSITA: BOM_Sxema.excalidraw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Elementni boshqarish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22960" y="1463040"/>
            <a:ext cx="10515600" cy="1005840"/>
          </a:xfrm>
          <a:prstGeom prst="roundRect">
            <a:avLst>
              <a:gd name="adj" fmla="val 5455"/>
            </a:avLst>
          </a:prstGeom>
          <a:solidFill>
            <a:srgbClr val="121826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46304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9BE8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document.querySelector</a:t>
            </a:r>
            <a:r>
              <a:rPr lang="en-US" sz="1700" dirty="0">
                <a:solidFill>
                  <a:srgbClr val="E7E9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700" dirty="0">
                <a:solidFill>
                  <a:srgbClr val="FFD9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'#sarlavha'</a:t>
            </a:r>
            <a:r>
              <a:rPr lang="en-US" sz="1700" dirty="0">
                <a:solidFill>
                  <a:srgbClr val="E7E9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700" dirty="0">
                <a:solidFill>
                  <a:srgbClr val="7CC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.textContent = </a:t>
            </a:r>
            <a:r>
              <a:rPr lang="en-US" sz="1700" dirty="0">
                <a:solidFill>
                  <a:srgbClr val="FFD9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'Salom!'</a:t>
            </a:r>
            <a:r>
              <a:rPr lang="en-US" sz="1700" dirty="0">
                <a:solidFill>
                  <a:srgbClr val="E7E9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2788920"/>
            <a:ext cx="365760" cy="365760"/>
          </a:xfrm>
          <a:prstGeom prst="ellipse">
            <a:avLst/>
          </a:prstGeom>
          <a:solidFill>
            <a:srgbClr val="453FE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25880" y="27432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BE8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querySelector('#sarlavha')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27432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7C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"Elementni top"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3657600"/>
            <a:ext cx="365760" cy="365760"/>
          </a:xfrm>
          <a:prstGeom prst="ellipse">
            <a:avLst/>
          </a:prstGeom>
          <a:solidFill>
            <a:srgbClr val="453FE0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657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325880" y="36118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BE8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.textContent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09360" y="36118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7C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"Uning matnini..."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" y="4526280"/>
            <a:ext cx="365760" cy="365760"/>
          </a:xfrm>
          <a:prstGeom prst="ellipse">
            <a:avLst/>
          </a:prstGeom>
          <a:solidFill>
            <a:srgbClr val="453FE0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526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325880" y="44805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BE8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'Salom!'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309360" y="44805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7C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"...o'zgartir"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6400800"/>
            <a:ext cx="5120640" cy="384048"/>
          </a:xfrm>
          <a:prstGeom prst="roundRect">
            <a:avLst>
              <a:gd name="adj" fmla="val 119048"/>
            </a:avLst>
          </a:prstGeom>
          <a:solidFill>
            <a:srgbClr val="ECEBF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640080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53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VOSITA: DOM_BOM_Playground.html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 — foydalanuvchi harakatiga javob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1088136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2651760"/>
            <a:ext cx="2377440" cy="1280160"/>
          </a:xfrm>
          <a:prstGeom prst="roundRect">
            <a:avLst>
              <a:gd name="adj" fmla="val 5714"/>
            </a:avLst>
          </a:prstGeom>
          <a:solidFill>
            <a:srgbClr val="FAEEDA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281635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A75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Foydalanuvchi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05840" y="3200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Tugmani bosadi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246120" y="3063240"/>
            <a:ext cx="228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474720" y="2651760"/>
            <a:ext cx="2377440" cy="1280160"/>
          </a:xfrm>
          <a:prstGeom prst="roundRect">
            <a:avLst>
              <a:gd name="adj" fmla="val 5714"/>
            </a:avLst>
          </a:prstGeom>
          <a:solidFill>
            <a:srgbClr val="ECEBFC"/>
          </a:solidFill>
          <a:ln/>
        </p:spPr>
      </p:sp>
      <p:sp>
        <p:nvSpPr>
          <p:cNvPr id="9" name="Text 7"/>
          <p:cNvSpPr/>
          <p:nvPr/>
        </p:nvSpPr>
        <p:spPr>
          <a:xfrm>
            <a:off x="3611880" y="281635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53F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Brauzer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11880" y="3200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Hodisa payqaydi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852160" y="3063240"/>
            <a:ext cx="228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080760" y="2651760"/>
            <a:ext cx="2377440" cy="1280160"/>
          </a:xfrm>
          <a:prstGeom prst="roundRect">
            <a:avLst>
              <a:gd name="adj" fmla="val 5714"/>
            </a:avLst>
          </a:prstGeom>
          <a:solidFill>
            <a:srgbClr val="E1F5EE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281635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9E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JavaScript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217920" y="3200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 ishlaydi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458200" y="3063240"/>
            <a:ext cx="228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686800" y="2651760"/>
            <a:ext cx="2377440" cy="1280160"/>
          </a:xfrm>
          <a:prstGeom prst="roundRect">
            <a:avLst>
              <a:gd name="adj" fmla="val 5714"/>
            </a:avLst>
          </a:prstGeom>
          <a:solidFill>
            <a:srgbClr val="FBE4ED"/>
          </a:solidFill>
          <a:ln/>
        </p:spPr>
      </p:sp>
      <p:sp>
        <p:nvSpPr>
          <p:cNvPr id="17" name="Text 15"/>
          <p:cNvSpPr/>
          <p:nvPr/>
        </p:nvSpPr>
        <p:spPr>
          <a:xfrm>
            <a:off x="8823960" y="281635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633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Natija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823960" y="3200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Sahifa o'zgaradi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6400800"/>
            <a:ext cx="5120640" cy="384048"/>
          </a:xfrm>
          <a:prstGeom prst="roundRect">
            <a:avLst>
              <a:gd name="adj" fmla="val 119048"/>
            </a:avLst>
          </a:prstGeom>
          <a:solidFill>
            <a:srgbClr val="ECEBFC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640080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53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VOSITA: DOM_BOM_Playground.html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685800" cy="685800"/>
          </a:xfrm>
          <a:prstGeom prst="ellipse">
            <a:avLst/>
          </a:prstGeom>
          <a:solidFill>
            <a:srgbClr val="1D9E75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731520"/>
            <a:ext cx="320040" cy="320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08760" y="548640"/>
            <a:ext cx="9601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Konsolidatsiya — yakuniy loyiha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640080" y="1645920"/>
            <a:ext cx="10881360" cy="39319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1005840" y="1920240"/>
            <a:ext cx="10149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Barcha to'rt mavzu — bitta ilovada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1005840" y="2606040"/>
            <a:ext cx="384048" cy="384048"/>
          </a:xfrm>
          <a:prstGeom prst="ellipse">
            <a:avLst/>
          </a:prstGeom>
          <a:solidFill>
            <a:srgbClr val="453FE0"/>
          </a:solidFill>
          <a:ln/>
        </p:spPr>
      </p:sp>
      <p:sp>
        <p:nvSpPr>
          <p:cNvPr id="8" name="Text 5"/>
          <p:cNvSpPr/>
          <p:nvPr/>
        </p:nvSpPr>
        <p:spPr>
          <a:xfrm>
            <a:off x="1005840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554480" y="2587752"/>
            <a:ext cx="9144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1005840" y="3227832"/>
            <a:ext cx="384048" cy="384048"/>
          </a:xfrm>
          <a:prstGeom prst="ellipse">
            <a:avLst/>
          </a:prstGeom>
          <a:solidFill>
            <a:srgbClr val="BA7517"/>
          </a:solidFill>
          <a:ln/>
        </p:spPr>
      </p:sp>
      <p:sp>
        <p:nvSpPr>
          <p:cNvPr id="11" name="Text 8"/>
          <p:cNvSpPr/>
          <p:nvPr/>
        </p:nvSpPr>
        <p:spPr>
          <a:xfrm>
            <a:off x="1005840" y="3227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554480" y="3209544"/>
            <a:ext cx="9144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</a:t>
            </a:r>
            <a:endParaRPr lang="en-US" sz="1550" dirty="0"/>
          </a:p>
        </p:txBody>
      </p:sp>
      <p:sp>
        <p:nvSpPr>
          <p:cNvPr id="13" name="Shape 10"/>
          <p:cNvSpPr/>
          <p:nvPr/>
        </p:nvSpPr>
        <p:spPr>
          <a:xfrm>
            <a:off x="1005840" y="3849624"/>
            <a:ext cx="384048" cy="384048"/>
          </a:xfrm>
          <a:prstGeom prst="ellipse">
            <a:avLst/>
          </a:prstGeom>
          <a:solidFill>
            <a:srgbClr val="1D9E75"/>
          </a:solidFill>
          <a:ln/>
        </p:spPr>
      </p:sp>
      <p:sp>
        <p:nvSpPr>
          <p:cNvPr id="14" name="Text 11"/>
          <p:cNvSpPr/>
          <p:nvPr/>
        </p:nvSpPr>
        <p:spPr>
          <a:xfrm>
            <a:off x="1005840" y="3849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554480" y="3831336"/>
            <a:ext cx="9144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Elementni boshqarish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1005840" y="4471416"/>
            <a:ext cx="384048" cy="384048"/>
          </a:xfrm>
          <a:prstGeom prst="ellipse">
            <a:avLst/>
          </a:prstGeom>
          <a:solidFill>
            <a:srgbClr val="D6336C"/>
          </a:solidFill>
          <a:ln/>
        </p:spPr>
      </p:sp>
      <p:sp>
        <p:nvSpPr>
          <p:cNvPr id="17" name="Text 14"/>
          <p:cNvSpPr/>
          <p:nvPr/>
        </p:nvSpPr>
        <p:spPr>
          <a:xfrm>
            <a:off x="1005840" y="4471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554480" y="4453128"/>
            <a:ext cx="9144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Event'lar</a:t>
            </a:r>
            <a:endParaRPr lang="en-US" sz="1550" dirty="0"/>
          </a:p>
        </p:txBody>
      </p:sp>
      <p:sp>
        <p:nvSpPr>
          <p:cNvPr id="19" name="Shape 16"/>
          <p:cNvSpPr/>
          <p:nvPr/>
        </p:nvSpPr>
        <p:spPr>
          <a:xfrm>
            <a:off x="457200" y="6400800"/>
            <a:ext cx="5120640" cy="384048"/>
          </a:xfrm>
          <a:prstGeom prst="roundRect">
            <a:avLst>
              <a:gd name="adj" fmla="val 119048"/>
            </a:avLst>
          </a:prstGeom>
          <a:solidFill>
            <a:srgbClr val="ECEBFC"/>
          </a:solidFill>
          <a:ln/>
        </p:spPr>
      </p:sp>
      <p:sp>
        <p:nvSpPr>
          <p:cNvPr id="20" name="Text 17"/>
          <p:cNvSpPr/>
          <p:nvPr/>
        </p:nvSpPr>
        <p:spPr>
          <a:xfrm>
            <a:off x="457200" y="640080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53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VOSITA: JS_Playground_Loyiha (index.html + script.js)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685800" cy="685800"/>
          </a:xfrm>
          <a:prstGeom prst="ellipse">
            <a:avLst/>
          </a:prstGeom>
          <a:solidFill>
            <a:srgbClr val="D6336C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731520"/>
            <a:ext cx="320040" cy="320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08760" y="548640"/>
            <a:ext cx="9601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Yakunlovchi o'yin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640080" y="1737360"/>
            <a:ext cx="10881360" cy="3657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1005840" y="2011680"/>
            <a:ext cx="10149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soniyada nechtasini to'g'ri ajratasiz?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1554480" y="3017520"/>
            <a:ext cx="2194560" cy="1280160"/>
          </a:xfrm>
          <a:prstGeom prst="roundRect">
            <a:avLst>
              <a:gd name="adj" fmla="val 7143"/>
            </a:avLst>
          </a:prstGeom>
          <a:solidFill>
            <a:srgbClr val="453FE0"/>
          </a:solidFill>
          <a:ln/>
        </p:spPr>
      </p:sp>
      <p:sp>
        <p:nvSpPr>
          <p:cNvPr id="8" name="Text 5"/>
          <p:cNvSpPr/>
          <p:nvPr/>
        </p:nvSpPr>
        <p:spPr>
          <a:xfrm>
            <a:off x="1554480" y="301752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4023360" y="3017520"/>
            <a:ext cx="2194560" cy="1280160"/>
          </a:xfrm>
          <a:prstGeom prst="roundRect">
            <a:avLst>
              <a:gd name="adj" fmla="val 7143"/>
            </a:avLst>
          </a:prstGeom>
          <a:solidFill>
            <a:srgbClr val="BA7517"/>
          </a:solidFill>
          <a:ln/>
        </p:spPr>
      </p:sp>
      <p:sp>
        <p:nvSpPr>
          <p:cNvPr id="10" name="Text 7"/>
          <p:cNvSpPr/>
          <p:nvPr/>
        </p:nvSpPr>
        <p:spPr>
          <a:xfrm>
            <a:off x="4023360" y="301752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BOM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492240" y="3017520"/>
            <a:ext cx="2194560" cy="1280160"/>
          </a:xfrm>
          <a:prstGeom prst="roundRect">
            <a:avLst>
              <a:gd name="adj" fmla="val 7143"/>
            </a:avLst>
          </a:prstGeom>
          <a:solidFill>
            <a:srgbClr val="1D9E75"/>
          </a:solidFill>
          <a:ln/>
        </p:spPr>
      </p:sp>
      <p:sp>
        <p:nvSpPr>
          <p:cNvPr id="12" name="Text 9"/>
          <p:cNvSpPr/>
          <p:nvPr/>
        </p:nvSpPr>
        <p:spPr>
          <a:xfrm>
            <a:off x="6492240" y="301752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Element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8961120" y="3017520"/>
            <a:ext cx="2194560" cy="1280160"/>
          </a:xfrm>
          <a:prstGeom prst="roundRect">
            <a:avLst>
              <a:gd name="adj" fmla="val 7143"/>
            </a:avLst>
          </a:prstGeom>
          <a:solidFill>
            <a:srgbClr val="D6336C"/>
          </a:solidFill>
          <a:ln/>
        </p:spPr>
      </p:sp>
      <p:sp>
        <p:nvSpPr>
          <p:cNvPr id="14" name="Text 11"/>
          <p:cNvSpPr/>
          <p:nvPr/>
        </p:nvSpPr>
        <p:spPr>
          <a:xfrm>
            <a:off x="8961120" y="301752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0080" y="46634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ta savol · vaqt bilan poyga · ball to'planadi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57200" y="6400800"/>
            <a:ext cx="5120640" cy="384048"/>
          </a:xfrm>
          <a:prstGeom prst="roundRect">
            <a:avLst>
              <a:gd name="adj" fmla="val 119048"/>
            </a:avLst>
          </a:prstGeom>
          <a:solidFill>
            <a:srgbClr val="ECEBFC"/>
          </a:solidFill>
          <a:ln/>
        </p:spPr>
      </p:sp>
      <p:sp>
        <p:nvSpPr>
          <p:cNvPr id="17" name="Text 14"/>
          <p:cNvSpPr/>
          <p:nvPr/>
        </p:nvSpPr>
        <p:spPr>
          <a:xfrm>
            <a:off x="457200" y="640080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53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VOSITA: 60_Soniyalik_Chaqiriq.html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Bugun nimalarni o'rgandik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108813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801368"/>
            <a:ext cx="457200" cy="457200"/>
          </a:xfrm>
          <a:prstGeom prst="ellipse">
            <a:avLst/>
          </a:prstGeom>
          <a:solidFill>
            <a:srgbClr val="E1F5EE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1911096"/>
            <a:ext cx="237744" cy="2377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54480" y="1600200"/>
            <a:ext cx="9692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 — sahifadagi elementlarning "daraxt" tuzilishi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40080" y="2651760"/>
            <a:ext cx="108813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14400" y="2852928"/>
            <a:ext cx="457200" cy="457200"/>
          </a:xfrm>
          <a:prstGeom prst="ellipse">
            <a:avLst/>
          </a:prstGeom>
          <a:solidFill>
            <a:srgbClr val="E1F5EE"/>
          </a:solidFill>
          <a:ln/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2962656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54480" y="2651760"/>
            <a:ext cx="9692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 — brauzerning o'zi bilan bog'liq narsalar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40080" y="3703320"/>
            <a:ext cx="108813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914400" y="3904488"/>
            <a:ext cx="457200" cy="457200"/>
          </a:xfrm>
          <a:prstGeom prst="ellipse">
            <a:avLst/>
          </a:prstGeom>
          <a:solidFill>
            <a:srgbClr val="E1F5EE"/>
          </a:solidFill>
          <a:ln/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4014216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54480" y="3703320"/>
            <a:ext cx="9692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querySelector va .textContent/.style — elementni topish va o'zgartirish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640080" y="4754880"/>
            <a:ext cx="108813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914400" y="4956048"/>
            <a:ext cx="457200" cy="457200"/>
          </a:xfrm>
          <a:prstGeom prst="ellipse">
            <a:avLst/>
          </a:prstGeom>
          <a:solidFill>
            <a:srgbClr val="E1F5EE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506577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554480" y="4754880"/>
            <a:ext cx="9692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addEventListener — foydalanuvchi harakatiga dastur javob berishi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77840" y="1371600"/>
            <a:ext cx="1005840" cy="1005840"/>
          </a:xfrm>
          <a:prstGeom prst="ellipse">
            <a:avLst/>
          </a:prstGeom>
          <a:solidFill>
            <a:srgbClr val="453FE0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4728" y="1618488"/>
            <a:ext cx="512064" cy="5120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74320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Rahmat! Savollar bormi?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640080" y="35204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B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 vazifasi va barcha materiallar — GitHub sahifamda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2179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Dilrabo Xidirova  ·  Al-Xorazmiy vorislari mentorlik dasturi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460</Words>
  <Application>Microsoft Office PowerPoint</Application>
  <PresentationFormat>Widescreen</PresentationFormat>
  <Paragraphs>110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DOM, BOM va Event'lar — Yakuniy</dc:title>
  <dc:subject>PptxGenJS Presentation</dc:subject>
  <dc:creator>Dilrabo Xidirova</dc:creator>
  <cp:lastModifiedBy>Dilrabo Khidirova</cp:lastModifiedBy>
  <cp:revision>3</cp:revision>
  <dcterms:created xsi:type="dcterms:W3CDTF">2026-07-07T08:27:16Z</dcterms:created>
  <dcterms:modified xsi:type="dcterms:W3CDTF">2026-07-07T09:06:39Z</dcterms:modified>
</cp:coreProperties>
</file>